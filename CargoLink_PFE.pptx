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2C3E6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457200"/>
            <a:ext cx="3474720" cy="3474720"/>
          </a:xfrm>
          <a:prstGeom prst="ellipse">
            <a:avLst/>
          </a:prstGeom>
          <a:solidFill>
            <a:srgbClr val="2F80ED">
              <a:alpha val="18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7724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6858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CargoLink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457200" y="1691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intelligente de gestion logistique multi-acteurs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2468880"/>
            <a:ext cx="4114800" cy="36576"/>
          </a:xfrm>
          <a:prstGeom prst="rect">
            <a:avLst/>
          </a:prstGeom>
          <a:solidFill>
            <a:srgbClr val="2F80ED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A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Fin d'Études — 2025-2026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 [Nom de l'encadrant]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3520440"/>
            <a:ext cx="1920240" cy="411480"/>
          </a:xfrm>
          <a:prstGeom prst="roundRect">
            <a:avLst>
              <a:gd name="adj" fmla="val 22222"/>
            </a:avLst>
          </a:prstGeom>
          <a:solidFill>
            <a:srgbClr val="2F80ED">
              <a:alpha val="3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3520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560320" y="3520440"/>
            <a:ext cx="1920240" cy="411480"/>
          </a:xfrm>
          <a:prstGeom prst="roundRect">
            <a:avLst>
              <a:gd name="adj" fmla="val 22222"/>
            </a:avLst>
          </a:prstGeom>
          <a:solidFill>
            <a:srgbClr val="2F80ED">
              <a:alpha val="3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2560320" y="3520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663440" y="3520440"/>
            <a:ext cx="1920240" cy="411480"/>
          </a:xfrm>
          <a:prstGeom prst="roundRect">
            <a:avLst>
              <a:gd name="adj" fmla="val 22222"/>
            </a:avLst>
          </a:prstGeom>
          <a:solidFill>
            <a:srgbClr val="2F80ED">
              <a:alpha val="3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0" y="3520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Livreur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766560" y="3520440"/>
            <a:ext cx="1920240" cy="411480"/>
          </a:xfrm>
          <a:prstGeom prst="roundRect">
            <a:avLst>
              <a:gd name="adj" fmla="val 22222"/>
            </a:avLst>
          </a:prstGeom>
          <a:solidFill>
            <a:srgbClr val="2F80ED">
              <a:alpha val="3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6766560" y="3520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 ·  TypeScript  ·  Java 21  ·  Spring Boot  ·  PostgreSQL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logistique fragmentée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D3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CargoLink — PFE 2025-2026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97280"/>
            <a:ext cx="502920" cy="502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5760" y="169164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" y="1691640"/>
            <a:ext cx="201168" cy="1325880"/>
          </a:xfrm>
          <a:prstGeom prst="rect">
            <a:avLst/>
          </a:prstGeom>
          <a:solidFill>
            <a:srgbClr val="2F80ED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180136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manuelle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5800" y="2194560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agences utilisent Excel, WhatsApp ou des appels pour coordonner les livraisons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54880" y="169164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0" y="1691640"/>
            <a:ext cx="201168" cy="1325880"/>
          </a:xfrm>
          <a:prstGeom prst="rect">
            <a:avLst/>
          </a:prstGeom>
          <a:solidFill>
            <a:srgbClr val="2F80ED"/>
          </a:solidFill>
          <a:ln/>
        </p:spPr>
      </p:sp>
      <p:sp>
        <p:nvSpPr>
          <p:cNvPr id="15" name="Text 12"/>
          <p:cNvSpPr/>
          <p:nvPr/>
        </p:nvSpPr>
        <p:spPr>
          <a:xfrm>
            <a:off x="5074920" y="180136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visibilité client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74920" y="2194560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suivi en temps réel — le client ne sait pas où est son colis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65760" y="324612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" y="3246120"/>
            <a:ext cx="201168" cy="1325880"/>
          </a:xfrm>
          <a:prstGeom prst="rect">
            <a:avLst/>
          </a:prstGeom>
          <a:solidFill>
            <a:srgbClr val="2F80ED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" y="335584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Livreurs déconnectés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85800" y="3749040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 transmises par appel ou SMS, sans optimisation des routes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754880" y="324612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54880" y="3246120"/>
            <a:ext cx="201168" cy="1325880"/>
          </a:xfrm>
          <a:prstGeom prst="rect">
            <a:avLst/>
          </a:prstGeom>
          <a:solidFill>
            <a:srgbClr val="2F80ED"/>
          </a:solidFill>
          <a:ln/>
        </p:spPr>
      </p:sp>
      <p:sp>
        <p:nvSpPr>
          <p:cNvPr id="23" name="Text 20"/>
          <p:cNvSpPr/>
          <p:nvPr/>
        </p:nvSpPr>
        <p:spPr>
          <a:xfrm>
            <a:off x="5074920" y="335584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Finances opaques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074920" y="3749040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traçabilité centralisée entre la plateforme, les agences et les livreurs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directrices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défis à résoudre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D3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CargoLink — PFE 2025-2026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97280"/>
            <a:ext cx="502920" cy="502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5760" y="118872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" y="1389888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8"/>
          <p:cNvSpPr/>
          <p:nvPr/>
        </p:nvSpPr>
        <p:spPr>
          <a:xfrm>
            <a:off x="475488" y="13898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34440" y="1298448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centraliser la gestion des commandes de plusieurs agences en temps réel ?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65760" y="235915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" y="2560320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" y="2560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34440" y="246888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offrir au client un suivi transparent et instantané de sa livraison ?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365760" y="3529584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5488" y="3730752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6"/>
          <p:cNvSpPr/>
          <p:nvPr/>
        </p:nvSpPr>
        <p:spPr>
          <a:xfrm>
            <a:off x="475488" y="37307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234440" y="3639312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automatiser les flux financiers entre plateforme, agences et livreurs 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D35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solution — CargoLink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plateforme, quatre rôles, un hub central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D3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CargoLink — PFE 2025-2026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0" y="1508760"/>
            <a:ext cx="2194560" cy="2194560"/>
          </a:xfrm>
          <a:prstGeom prst="ellipse">
            <a:avLst/>
          </a:prstGeom>
          <a:solidFill>
            <a:srgbClr val="2F80ED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50876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CargoLink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691640" y="2286000"/>
            <a:ext cx="1783080" cy="0"/>
          </a:xfrm>
          <a:prstGeom prst="line">
            <a:avLst/>
          </a:prstGeom>
          <a:noFill/>
          <a:ln w="19050">
            <a:solidFill>
              <a:srgbClr val="56A3F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5669280" y="2286000"/>
            <a:ext cx="1783080" cy="0"/>
          </a:xfrm>
          <a:prstGeom prst="line">
            <a:avLst/>
          </a:prstGeom>
          <a:noFill/>
          <a:ln w="19050">
            <a:solidFill>
              <a:srgbClr val="56A3F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691640" y="3794760"/>
            <a:ext cx="1783080" cy="0"/>
          </a:xfrm>
          <a:prstGeom prst="line">
            <a:avLst/>
          </a:prstGeom>
          <a:noFill/>
          <a:ln w="19050">
            <a:solidFill>
              <a:srgbClr val="56A3F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669280" y="3794760"/>
            <a:ext cx="1783080" cy="0"/>
          </a:xfrm>
          <a:prstGeom prst="line">
            <a:avLst/>
          </a:prstGeom>
          <a:noFill/>
          <a:ln w="19050">
            <a:solidFill>
              <a:srgbClr val="56A3F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274320" y="1737360"/>
            <a:ext cx="2331720" cy="1097280"/>
          </a:xfrm>
          <a:prstGeom prst="roundRect">
            <a:avLst>
              <a:gd name="adj" fmla="val 8333"/>
            </a:avLst>
          </a:prstGeom>
          <a:solidFill>
            <a:srgbClr val="2C3E6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993392"/>
            <a:ext cx="438912" cy="43891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32688" y="1828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Global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32688" y="23042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 tout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92240" y="1737360"/>
            <a:ext cx="2331720" cy="1097280"/>
          </a:xfrm>
          <a:prstGeom prst="roundRect">
            <a:avLst>
              <a:gd name="adj" fmla="val 8333"/>
            </a:avLst>
          </a:prstGeom>
          <a:solidFill>
            <a:srgbClr val="2C3E6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993392"/>
            <a:ext cx="438912" cy="43891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150608" y="1828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Agence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7150608" y="23042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l'agence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274320" y="3246120"/>
            <a:ext cx="2331720" cy="1097280"/>
          </a:xfrm>
          <a:prstGeom prst="roundRect">
            <a:avLst>
              <a:gd name="adj" fmla="val 8333"/>
            </a:avLst>
          </a:prstGeom>
          <a:solidFill>
            <a:srgbClr val="2C3E6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502152"/>
            <a:ext cx="438912" cy="43891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32688" y="3337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Livreur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932688" y="38130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Exécute les missions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492240" y="3246120"/>
            <a:ext cx="2331720" cy="1097280"/>
          </a:xfrm>
          <a:prstGeom prst="roundRect">
            <a:avLst>
              <a:gd name="adj" fmla="val 8333"/>
            </a:avLst>
          </a:prstGeom>
          <a:solidFill>
            <a:srgbClr val="2C3E6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3502152"/>
            <a:ext cx="438912" cy="43891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150608" y="3337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7150608" y="38130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&amp; suit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utilisées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D3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CargoLink — PFE 2025-2026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2743200" cy="3657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51560"/>
            <a:ext cx="2743200" cy="566928"/>
          </a:xfrm>
          <a:prstGeom prst="rect">
            <a:avLst/>
          </a:prstGeom>
          <a:solidFill>
            <a:srgbClr val="2F80ED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115568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0120" y="111556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21208" y="1856232"/>
            <a:ext cx="201168" cy="201168"/>
          </a:xfrm>
          <a:prstGeom prst="ellipse">
            <a:avLst/>
          </a:prstGeom>
          <a:solidFill>
            <a:srgbClr val="2F80ED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17830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21208" y="2478024"/>
            <a:ext cx="201168" cy="201168"/>
          </a:xfrm>
          <a:prstGeom prst="ellipse">
            <a:avLst/>
          </a:prstGeom>
          <a:solidFill>
            <a:srgbClr val="2F80ED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240487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21208" y="3099816"/>
            <a:ext cx="201168" cy="201168"/>
          </a:xfrm>
          <a:prstGeom prst="ellipse">
            <a:avLst/>
          </a:prstGeom>
          <a:solidFill>
            <a:srgbClr val="2F80ED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3026664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 pages / rôle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21208" y="3721608"/>
            <a:ext cx="201168" cy="201168"/>
          </a:xfrm>
          <a:prstGeom prst="ellipse">
            <a:avLst/>
          </a:prstGeom>
          <a:solidFill>
            <a:srgbClr val="2F80ED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3648456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client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264408" y="1051560"/>
            <a:ext cx="2743200" cy="3657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264408" y="1051560"/>
            <a:ext cx="2743200" cy="566928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115568"/>
            <a:ext cx="384048" cy="38404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904488" y="111556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3465576" y="1856232"/>
            <a:ext cx="201168" cy="20116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5" name="Text 21"/>
          <p:cNvSpPr/>
          <p:nvPr/>
        </p:nvSpPr>
        <p:spPr>
          <a:xfrm>
            <a:off x="3767328" y="17830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3465576" y="2478024"/>
            <a:ext cx="201168" cy="20116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7" name="Text 23"/>
          <p:cNvSpPr/>
          <p:nvPr/>
        </p:nvSpPr>
        <p:spPr>
          <a:xfrm>
            <a:off x="3767328" y="240487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3465576" y="3099816"/>
            <a:ext cx="201168" cy="20116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9" name="Text 25"/>
          <p:cNvSpPr/>
          <p:nvPr/>
        </p:nvSpPr>
        <p:spPr>
          <a:xfrm>
            <a:off x="3767328" y="3026664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3465576" y="3721608"/>
            <a:ext cx="201168" cy="20116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1" name="Text 27"/>
          <p:cNvSpPr/>
          <p:nvPr/>
        </p:nvSpPr>
        <p:spPr>
          <a:xfrm>
            <a:off x="3767328" y="3648456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controllers REST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3465576" y="4343400"/>
            <a:ext cx="201168" cy="20116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3" name="Text 29"/>
          <p:cNvSpPr/>
          <p:nvPr/>
        </p:nvSpPr>
        <p:spPr>
          <a:xfrm>
            <a:off x="3767328" y="427024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STOMP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6208776" y="1051560"/>
            <a:ext cx="2743200" cy="3657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6208776" y="1051560"/>
            <a:ext cx="2743200" cy="566928"/>
          </a:xfrm>
          <a:prstGeom prst="rect">
            <a:avLst/>
          </a:prstGeom>
          <a:solidFill>
            <a:srgbClr val="0F1D35"/>
          </a:solidFill>
          <a:ln/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1115568"/>
            <a:ext cx="384048" cy="384048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6848856" y="111556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&amp; Data</a:t>
            </a:r>
            <a:endParaRPr lang="en-US" sz="1600" dirty="0"/>
          </a:p>
        </p:txBody>
      </p:sp>
      <p:sp>
        <p:nvSpPr>
          <p:cNvPr id="38" name="Shape 33"/>
          <p:cNvSpPr/>
          <p:nvPr/>
        </p:nvSpPr>
        <p:spPr>
          <a:xfrm>
            <a:off x="6409944" y="1856232"/>
            <a:ext cx="201168" cy="201168"/>
          </a:xfrm>
          <a:prstGeom prst="ellipse">
            <a:avLst/>
          </a:prstGeom>
          <a:solidFill>
            <a:srgbClr val="0F1D35"/>
          </a:solidFill>
          <a:ln/>
        </p:spPr>
      </p:sp>
      <p:sp>
        <p:nvSpPr>
          <p:cNvPr id="39" name="Text 34"/>
          <p:cNvSpPr/>
          <p:nvPr/>
        </p:nvSpPr>
        <p:spPr>
          <a:xfrm>
            <a:off x="6711696" y="17830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14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6409944" y="2478024"/>
            <a:ext cx="201168" cy="201168"/>
          </a:xfrm>
          <a:prstGeom prst="ellipse">
            <a:avLst/>
          </a:prstGeom>
          <a:solidFill>
            <a:srgbClr val="0F1D35"/>
          </a:solidFill>
          <a:ln/>
        </p:spPr>
      </p:sp>
      <p:sp>
        <p:nvSpPr>
          <p:cNvPr id="41" name="Text 36"/>
          <p:cNvSpPr/>
          <p:nvPr/>
        </p:nvSpPr>
        <p:spPr>
          <a:xfrm>
            <a:off x="6711696" y="240487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migrations</a:t>
            </a:r>
            <a:endParaRPr lang="en-US" sz="1200" dirty="0"/>
          </a:p>
        </p:txBody>
      </p:sp>
      <p:sp>
        <p:nvSpPr>
          <p:cNvPr id="42" name="Shape 37"/>
          <p:cNvSpPr/>
          <p:nvPr/>
        </p:nvSpPr>
        <p:spPr>
          <a:xfrm>
            <a:off x="6409944" y="3099816"/>
            <a:ext cx="201168" cy="201168"/>
          </a:xfrm>
          <a:prstGeom prst="ellipse">
            <a:avLst/>
          </a:prstGeom>
          <a:solidFill>
            <a:srgbClr val="0F1D35"/>
          </a:solidFill>
          <a:ln/>
        </p:spPr>
      </p:sp>
      <p:sp>
        <p:nvSpPr>
          <p:cNvPr id="43" name="Text 38"/>
          <p:cNvSpPr/>
          <p:nvPr/>
        </p:nvSpPr>
        <p:spPr>
          <a:xfrm>
            <a:off x="6711696" y="3026664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</a:t>
            </a:r>
            <a:endParaRPr lang="en-US" sz="1200" dirty="0"/>
          </a:p>
        </p:txBody>
      </p:sp>
      <p:sp>
        <p:nvSpPr>
          <p:cNvPr id="44" name="Shape 39"/>
          <p:cNvSpPr/>
          <p:nvPr/>
        </p:nvSpPr>
        <p:spPr>
          <a:xfrm>
            <a:off x="6409944" y="3721608"/>
            <a:ext cx="201168" cy="201168"/>
          </a:xfrm>
          <a:prstGeom prst="ellipse">
            <a:avLst/>
          </a:prstGeom>
          <a:solidFill>
            <a:srgbClr val="0F1D35"/>
          </a:solidFill>
          <a:ln/>
        </p:spPr>
      </p:sp>
      <p:sp>
        <p:nvSpPr>
          <p:cNvPr id="45" name="Text 40"/>
          <p:cNvSpPr/>
          <p:nvPr/>
        </p:nvSpPr>
        <p:spPr>
          <a:xfrm>
            <a:off x="6711696" y="3648456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pipelines (build, test, deploy)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logicielle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des couches backend &amp; frontend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D3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CargoLink — PFE 2025-2026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143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1536192"/>
            <a:ext cx="3749040" cy="502920"/>
          </a:xfrm>
          <a:prstGeom prst="roundRect">
            <a:avLst>
              <a:gd name="adj" fmla="val 12727"/>
            </a:avLst>
          </a:prstGeom>
          <a:solidFill>
            <a:srgbClr val="2F80ED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5361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(REST API)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176272"/>
            <a:ext cx="3474720" cy="502920"/>
          </a:xfrm>
          <a:prstGeom prst="roundRect">
            <a:avLst>
              <a:gd name="adj" fmla="val 12727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762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(Logique métier)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2816352"/>
            <a:ext cx="3200400" cy="502920"/>
          </a:xfrm>
          <a:prstGeom prst="roundRect">
            <a:avLst>
              <a:gd name="adj" fmla="val 12727"/>
            </a:avLst>
          </a:prstGeom>
          <a:solidFill>
            <a:srgbClr val="2C3E6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8163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(JPA)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3456432"/>
            <a:ext cx="2926080" cy="502920"/>
          </a:xfrm>
          <a:prstGeom prst="roundRect">
            <a:avLst>
              <a:gd name="adj" fmla="val 12727"/>
            </a:avLst>
          </a:prstGeom>
          <a:solidFill>
            <a:srgbClr val="0F1D35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45643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(Domaine)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41605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Rôles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(ADMIN / AGENCY_ADMIN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/ CLIENT)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097280"/>
            <a:ext cx="0" cy="3566160"/>
          </a:xfrm>
          <a:prstGeom prst="line">
            <a:avLst/>
          </a:prstGeom>
          <a:noFill/>
          <a:ln w="12700">
            <a:solidFill>
              <a:srgbClr val="E8EF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143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92040" y="1536192"/>
            <a:ext cx="388620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627632"/>
            <a:ext cx="347472" cy="34747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486400" y="153619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 — Dashboard, agences, finances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892040" y="2249424"/>
            <a:ext cx="388620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340864"/>
            <a:ext cx="347472" cy="34747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486400" y="224942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/agency — Ops, livreurs, commandes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4892040" y="2962656"/>
            <a:ext cx="388620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054096"/>
            <a:ext cx="347472" cy="34747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486400" y="296265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/driver — Missions, carte, wallet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4892040" y="3675888"/>
            <a:ext cx="388620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767328"/>
            <a:ext cx="347472" cy="34747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486400" y="367588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/client — Commandes, suivi live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Admin global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complète de la plateforme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D3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CargoLink — PFE 2025-2026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589520" y="914400"/>
            <a:ext cx="1280160" cy="12801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051560"/>
            <a:ext cx="1005840" cy="10058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65760" y="1188720"/>
            <a:ext cx="7040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1188720"/>
            <a:ext cx="201168" cy="502920"/>
          </a:xfrm>
          <a:prstGeom prst="rect">
            <a:avLst/>
          </a:prstGeom>
          <a:solidFill>
            <a:srgbClr val="2F80ED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1188720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KPIs temps réel : commandes, revenus, agences actives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65760" y="1783080"/>
            <a:ext cx="7040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5760" y="1783080"/>
            <a:ext cx="201168" cy="502920"/>
          </a:xfrm>
          <a:prstGeom prst="rect">
            <a:avLst/>
          </a:prstGeom>
          <a:solidFill>
            <a:srgbClr val="2F80ED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1783080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d'agences via wizard multi-étapes (5 écrans guidés)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65760" y="2377440"/>
            <a:ext cx="7040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65760" y="2377440"/>
            <a:ext cx="201168" cy="502920"/>
          </a:xfrm>
          <a:prstGeom prst="rect">
            <a:avLst/>
          </a:prstGeom>
          <a:solidFill>
            <a:srgbClr val="2F80ED"/>
          </a:solidFill>
          <a:ln/>
        </p:spPr>
      </p:sp>
      <p:sp>
        <p:nvSpPr>
          <p:cNvPr id="18" name="Text 15"/>
          <p:cNvSpPr/>
          <p:nvPr/>
        </p:nvSpPr>
        <p:spPr>
          <a:xfrm>
            <a:off x="685800" y="2377440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live globale : positions de tous les livreurs en simultané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365760" y="2971800"/>
            <a:ext cx="7040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65760" y="2971800"/>
            <a:ext cx="201168" cy="502920"/>
          </a:xfrm>
          <a:prstGeom prst="rect">
            <a:avLst/>
          </a:prstGeom>
          <a:solidFill>
            <a:srgbClr val="2F80ED"/>
          </a:solidFill>
          <a:ln/>
        </p:spPr>
      </p:sp>
      <p:sp>
        <p:nvSpPr>
          <p:cNvPr id="21" name="Text 18"/>
          <p:cNvSpPr/>
          <p:nvPr/>
        </p:nvSpPr>
        <p:spPr>
          <a:xfrm>
            <a:off x="685800" y="2971800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financière : wallets, virements, réconciliation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365760" y="3566160"/>
            <a:ext cx="7040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65760" y="3566160"/>
            <a:ext cx="201168" cy="502920"/>
          </a:xfrm>
          <a:prstGeom prst="rect">
            <a:avLst/>
          </a:prstGeom>
          <a:solidFill>
            <a:srgbClr val="2F80ED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" y="3566160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des utilisateurs, rôles, tarification et régions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365760" y="4160520"/>
            <a:ext cx="7040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65760" y="4160520"/>
            <a:ext cx="201168" cy="502920"/>
          </a:xfrm>
          <a:prstGeom prst="rect">
            <a:avLst/>
          </a:prstGeom>
          <a:solidFill>
            <a:srgbClr val="2F80ED"/>
          </a:solidFill>
          <a:ln/>
        </p:spPr>
      </p:sp>
      <p:sp>
        <p:nvSpPr>
          <p:cNvPr id="27" name="Text 24"/>
          <p:cNvSpPr/>
          <p:nvPr/>
        </p:nvSpPr>
        <p:spPr>
          <a:xfrm>
            <a:off x="685800" y="4160520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complet et historique de sécurité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Agence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opérationnelle &amp; financière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D3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CargoLink — PFE 2025-2026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589520" y="914400"/>
            <a:ext cx="1280160" cy="12801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051560"/>
            <a:ext cx="1005840" cy="10058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65760" y="1188720"/>
            <a:ext cx="7040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1188720"/>
            <a:ext cx="201168" cy="502920"/>
          </a:xfrm>
          <a:prstGeom prst="rect">
            <a:avLst/>
          </a:prstGeom>
          <a:solidFill>
            <a:srgbClr val="2C3E63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1188720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unifié : Live Ops (missions en cours) + KPIs agence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65760" y="1783080"/>
            <a:ext cx="7040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5760" y="1783080"/>
            <a:ext cx="201168" cy="502920"/>
          </a:xfrm>
          <a:prstGeom prst="rect">
            <a:avLst/>
          </a:prstGeom>
          <a:solidFill>
            <a:srgbClr val="2C3E63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1783080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livreurs : profils, shifts, badges, sanctions disciplinaires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65760" y="2377440"/>
            <a:ext cx="7040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65760" y="2377440"/>
            <a:ext cx="201168" cy="502920"/>
          </a:xfrm>
          <a:prstGeom prst="rect">
            <a:avLst/>
          </a:prstGeom>
          <a:solidFill>
            <a:srgbClr val="2C3E63"/>
          </a:solidFill>
          <a:ln/>
        </p:spPr>
      </p:sp>
      <p:sp>
        <p:nvSpPr>
          <p:cNvPr id="18" name="Text 15"/>
          <p:cNvSpPr/>
          <p:nvPr/>
        </p:nvSpPr>
        <p:spPr>
          <a:xfrm>
            <a:off x="685800" y="2377440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&amp; suivi des commandes + optimisation de routes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365760" y="2971800"/>
            <a:ext cx="7040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65760" y="2971800"/>
            <a:ext cx="201168" cy="502920"/>
          </a:xfrm>
          <a:prstGeom prst="rect">
            <a:avLst/>
          </a:prstGeom>
          <a:solidFill>
            <a:srgbClr val="2C3E63"/>
          </a:solidFill>
          <a:ln/>
        </p:spPr>
      </p:sp>
      <p:sp>
        <p:nvSpPr>
          <p:cNvPr id="21" name="Text 18"/>
          <p:cNvSpPr/>
          <p:nvPr/>
        </p:nvSpPr>
        <p:spPr>
          <a:xfrm>
            <a:off x="685800" y="2971800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clients de l'agence &amp; carnet d'adresses partagé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365760" y="3566160"/>
            <a:ext cx="7040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65760" y="3566160"/>
            <a:ext cx="201168" cy="502920"/>
          </a:xfrm>
          <a:prstGeom prst="rect">
            <a:avLst/>
          </a:prstGeom>
          <a:solidFill>
            <a:srgbClr val="2C3E63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" y="3566160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agence : solde, transactions, demandes de virement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365760" y="4160520"/>
            <a:ext cx="7040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65760" y="4160520"/>
            <a:ext cx="201168" cy="502920"/>
          </a:xfrm>
          <a:prstGeom prst="rect">
            <a:avLst/>
          </a:prstGeom>
          <a:solidFill>
            <a:srgbClr val="2C3E63"/>
          </a:solidFill>
          <a:ln/>
        </p:spPr>
      </p:sp>
      <p:sp>
        <p:nvSpPr>
          <p:cNvPr id="27" name="Text 24"/>
          <p:cNvSpPr/>
          <p:nvPr/>
        </p:nvSpPr>
        <p:spPr>
          <a:xfrm>
            <a:off x="685800" y="4160520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Réconciliation financière et facturation inter-agences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Livreur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mobile-first pour les chauffeurs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D3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CargoLink — PFE 2025-2026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41605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438912" cy="4389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15568" y="12801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GPS + optimisation de route en temps réel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800600" y="1188720"/>
            <a:ext cx="41605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417320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50408" y="12801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Réception et acceptation des missions instantanément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365760" y="2450592"/>
            <a:ext cx="41605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79192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15568" y="25420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de livraison : scan QR + preuve photo/signature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4800600" y="2450592"/>
            <a:ext cx="41605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679192"/>
            <a:ext cx="438912" cy="4389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50408" y="25420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livreur : gains, historique, demande de retrait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365760" y="3712464"/>
            <a:ext cx="41605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41064"/>
            <a:ext cx="438912" cy="43891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15568" y="3803904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Déclaration d'incidents et signalements en direct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4800600" y="3712464"/>
            <a:ext cx="41605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941064"/>
            <a:ext cx="438912" cy="43891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550408" y="3803904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shifts : statut, missions du jour, performance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Client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 de commande &amp; suivi transparent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D3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CargoLink — PFE 2025-2026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589520" y="914400"/>
            <a:ext cx="1280160" cy="12801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051560"/>
            <a:ext cx="1005840" cy="10058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65760" y="1188720"/>
            <a:ext cx="7040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1188720"/>
            <a:ext cx="201168" cy="502920"/>
          </a:xfrm>
          <a:prstGeom prst="rect">
            <a:avLst/>
          </a:prstGeom>
          <a:solidFill>
            <a:srgbClr val="0F1D35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1188720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self-service et gestion du profil client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65760" y="1783080"/>
            <a:ext cx="7040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5760" y="1783080"/>
            <a:ext cx="201168" cy="502920"/>
          </a:xfrm>
          <a:prstGeom prst="rect">
            <a:avLst/>
          </a:prstGeom>
          <a:solidFill>
            <a:srgbClr val="0F1D35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1783080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commandes avec carnet d'adresses sauvegardé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65760" y="2377440"/>
            <a:ext cx="7040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65760" y="2377440"/>
            <a:ext cx="201168" cy="502920"/>
          </a:xfrm>
          <a:prstGeom prst="rect">
            <a:avLst/>
          </a:prstGeom>
          <a:solidFill>
            <a:srgbClr val="0F1D35"/>
          </a:solidFill>
          <a:ln/>
        </p:spPr>
      </p:sp>
      <p:sp>
        <p:nvSpPr>
          <p:cNvPr id="18" name="Text 15"/>
          <p:cNvSpPr/>
          <p:nvPr/>
        </p:nvSpPr>
        <p:spPr>
          <a:xfrm>
            <a:off x="685800" y="2377440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en temps réel sur carte interactive (WebSocket)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365760" y="2971800"/>
            <a:ext cx="7040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65760" y="2971800"/>
            <a:ext cx="201168" cy="502920"/>
          </a:xfrm>
          <a:prstGeom prst="rect">
            <a:avLst/>
          </a:prstGeom>
          <a:solidFill>
            <a:srgbClr val="0F1D35"/>
          </a:solidFill>
          <a:ln/>
        </p:spPr>
      </p:sp>
      <p:sp>
        <p:nvSpPr>
          <p:cNvPr id="21" name="Text 18"/>
          <p:cNvSpPr/>
          <p:nvPr/>
        </p:nvSpPr>
        <p:spPr>
          <a:xfrm>
            <a:off x="685800" y="2971800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complet des commandes et détails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365760" y="3566160"/>
            <a:ext cx="7040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65760" y="3566160"/>
            <a:ext cx="201168" cy="502920"/>
          </a:xfrm>
          <a:prstGeom prst="rect">
            <a:avLst/>
          </a:prstGeom>
          <a:solidFill>
            <a:srgbClr val="0F1D35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" y="3566160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client : solde, paiement, recharges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365760" y="4160520"/>
            <a:ext cx="7040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65760" y="4160520"/>
            <a:ext cx="201168" cy="502920"/>
          </a:xfrm>
          <a:prstGeom prst="rect">
            <a:avLst/>
          </a:prstGeom>
          <a:solidFill>
            <a:srgbClr val="0F1D35"/>
          </a:solidFill>
          <a:ln/>
        </p:spPr>
      </p:sp>
      <p:sp>
        <p:nvSpPr>
          <p:cNvPr id="27" name="Text 24"/>
          <p:cNvSpPr/>
          <p:nvPr/>
        </p:nvSpPr>
        <p:spPr>
          <a:xfrm>
            <a:off x="685800" y="4160520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Ouverture d'incidents et support client intégré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D35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live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complet de bout en bout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D3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CargoLink — PFE 2025-2026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261872"/>
            <a:ext cx="530352" cy="530352"/>
          </a:xfrm>
          <a:prstGeom prst="ellipse">
            <a:avLst/>
          </a:prstGeom>
          <a:solidFill>
            <a:srgbClr val="2F80ED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618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364" y="1792224"/>
            <a:ext cx="0" cy="182880"/>
          </a:xfrm>
          <a:prstGeom prst="line">
            <a:avLst/>
          </a:prstGeom>
          <a:noFill/>
          <a:ln w="19050">
            <a:solidFill>
              <a:srgbClr val="56A3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1188720"/>
            <a:ext cx="7178040" cy="566928"/>
          </a:xfrm>
          <a:prstGeom prst="roundRect">
            <a:avLst>
              <a:gd name="adj" fmla="val 12903"/>
            </a:avLst>
          </a:prstGeom>
          <a:solidFill>
            <a:srgbClr val="2C3E63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11887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Admin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06240" y="118872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Dashboard global + carte live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1975104"/>
            <a:ext cx="530352" cy="530352"/>
          </a:xfrm>
          <a:prstGeom prst="ellipse">
            <a:avLst/>
          </a:prstGeom>
          <a:solidFill>
            <a:srgbClr val="2F80ED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19751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6364" y="2505456"/>
            <a:ext cx="0" cy="182880"/>
          </a:xfrm>
          <a:prstGeom prst="line">
            <a:avLst/>
          </a:prstGeom>
          <a:noFill/>
          <a:ln w="19050">
            <a:solidFill>
              <a:srgbClr val="56A3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1901952"/>
            <a:ext cx="7178040" cy="566928"/>
          </a:xfrm>
          <a:prstGeom prst="roundRect">
            <a:avLst>
              <a:gd name="adj" fmla="val 12903"/>
            </a:avLst>
          </a:prstGeom>
          <a:solidFill>
            <a:srgbClr val="2C3E63"/>
          </a:solidFill>
          <a:ln/>
        </p:spPr>
      </p:sp>
      <p:sp>
        <p:nvSpPr>
          <p:cNvPr id="18" name="Text 16"/>
          <p:cNvSpPr/>
          <p:nvPr/>
        </p:nvSpPr>
        <p:spPr>
          <a:xfrm>
            <a:off x="1234440" y="190195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Agence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206240" y="190195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Créer une commande client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688336"/>
            <a:ext cx="530352" cy="530352"/>
          </a:xfrm>
          <a:prstGeom prst="ellipse">
            <a:avLst/>
          </a:prstGeom>
          <a:solidFill>
            <a:srgbClr val="2F80ED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6883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6364" y="3218688"/>
            <a:ext cx="0" cy="182880"/>
          </a:xfrm>
          <a:prstGeom prst="line">
            <a:avLst/>
          </a:prstGeom>
          <a:noFill/>
          <a:ln w="19050">
            <a:solidFill>
              <a:srgbClr val="56A3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1560" y="2615184"/>
            <a:ext cx="7178040" cy="566928"/>
          </a:xfrm>
          <a:prstGeom prst="roundRect">
            <a:avLst>
              <a:gd name="adj" fmla="val 12903"/>
            </a:avLst>
          </a:prstGeom>
          <a:solidFill>
            <a:srgbClr val="2C3E63"/>
          </a:solidFill>
          <a:ln/>
        </p:spPr>
      </p:sp>
      <p:sp>
        <p:nvSpPr>
          <p:cNvPr id="24" name="Text 22"/>
          <p:cNvSpPr/>
          <p:nvPr/>
        </p:nvSpPr>
        <p:spPr>
          <a:xfrm>
            <a:off x="1234440" y="261518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Livreur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206240" y="261518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Accepter + voir route optimisée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3401568"/>
            <a:ext cx="530352" cy="530352"/>
          </a:xfrm>
          <a:prstGeom prst="ellipse">
            <a:avLst/>
          </a:prstGeom>
          <a:solidFill>
            <a:srgbClr val="2F80ED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4015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6364" y="3931920"/>
            <a:ext cx="0" cy="182880"/>
          </a:xfrm>
          <a:prstGeom prst="line">
            <a:avLst/>
          </a:prstGeom>
          <a:noFill/>
          <a:ln w="19050">
            <a:solidFill>
              <a:srgbClr val="56A3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" y="3328416"/>
            <a:ext cx="7178040" cy="566928"/>
          </a:xfrm>
          <a:prstGeom prst="roundRect">
            <a:avLst>
              <a:gd name="adj" fmla="val 12903"/>
            </a:avLst>
          </a:prstGeom>
          <a:solidFill>
            <a:srgbClr val="2C3E63"/>
          </a:solidFill>
          <a:ln/>
        </p:spPr>
      </p:sp>
      <p:sp>
        <p:nvSpPr>
          <p:cNvPr id="30" name="Text 28"/>
          <p:cNvSpPr/>
          <p:nvPr/>
        </p:nvSpPr>
        <p:spPr>
          <a:xfrm>
            <a:off x="1234440" y="332841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Client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206240" y="332841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Suivi temps réel sur carte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65760" y="4114800"/>
            <a:ext cx="530352" cy="530352"/>
          </a:xfrm>
          <a:prstGeom prst="ellipse">
            <a:avLst/>
          </a:prstGeom>
          <a:solidFill>
            <a:srgbClr val="2F80ED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41148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51560" y="4041648"/>
            <a:ext cx="7178040" cy="566928"/>
          </a:xfrm>
          <a:prstGeom prst="roundRect">
            <a:avLst>
              <a:gd name="adj" fmla="val 12903"/>
            </a:avLst>
          </a:prstGeom>
          <a:solidFill>
            <a:srgbClr val="2C3E63"/>
          </a:solidFill>
          <a:ln/>
        </p:spPr>
      </p:sp>
      <p:sp>
        <p:nvSpPr>
          <p:cNvPr id="35" name="Text 33"/>
          <p:cNvSpPr/>
          <p:nvPr/>
        </p:nvSpPr>
        <p:spPr>
          <a:xfrm>
            <a:off x="1234440" y="404164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Admin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206240" y="404164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Wallet agence mis à jour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65760" y="4617720"/>
            <a:ext cx="8412480" cy="228600"/>
          </a:xfrm>
          <a:prstGeom prst="roundRect">
            <a:avLst>
              <a:gd name="adj" fmla="val 24000"/>
            </a:avLst>
          </a:prstGeom>
          <a:solidFill>
            <a:srgbClr val="2F80ED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Conseil : 2 navigateurs côte à côte pour montrer la synchronisation temps réel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B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avons livré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chiffres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D3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CargoLink — PFE 2025-2026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09728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20700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20040" y="18745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REST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21945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documentée Swagger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09728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120700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291840" y="18745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distincts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21945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dédiées par acteur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109728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63640" y="120700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263640" y="18745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frontend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21945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74320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" y="285292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320040" y="3520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CI/CD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0040" y="3840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274320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91840" y="285292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3291840" y="3520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91840" y="3840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multi-rôle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63640" y="274320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63640" y="285292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</a:t>
            </a:r>
            <a:endParaRPr lang="en-US" sz="3800" dirty="0"/>
          </a:p>
        </p:txBody>
      </p:sp>
      <p:sp>
        <p:nvSpPr>
          <p:cNvPr id="30" name="Text 28"/>
          <p:cNvSpPr/>
          <p:nvPr/>
        </p:nvSpPr>
        <p:spPr>
          <a:xfrm>
            <a:off x="6263640" y="3520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réel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63640" y="3840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STOMP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B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Défis &amp; solutions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avons surmonté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D3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CargoLink — PFE 2025-2026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143000"/>
            <a:ext cx="2926080" cy="594360"/>
          </a:xfrm>
          <a:prstGeom prst="rect">
            <a:avLst/>
          </a:prstGeom>
          <a:solidFill>
            <a:srgbClr val="1B2A4A">
              <a:alpha val="9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14300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multi-rôle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91840" y="11430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8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840480" y="11430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@PreAuthorize + JWT par rôle (ADMIN, AGENCY, DRIVER, CLIENT)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856232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856232"/>
            <a:ext cx="2926080" cy="594360"/>
          </a:xfrm>
          <a:prstGeom prst="rect">
            <a:avLst/>
          </a:prstGeom>
          <a:solidFill>
            <a:srgbClr val="1B2A4A">
              <a:alpha val="9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1856232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réel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91840" y="1856232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8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840480" y="185623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STOMP avec gestion des connexions actives et reconnexion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569464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569464"/>
            <a:ext cx="2926080" cy="594360"/>
          </a:xfrm>
          <a:prstGeom prst="rect">
            <a:avLst/>
          </a:prstGeom>
          <a:solidFill>
            <a:srgbClr val="1B2A4A">
              <a:alpha val="9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569464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de routes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291840" y="2569464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8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840480" y="2569464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dédié RouteOptimisationController avec algorithme TSP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282696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282696"/>
            <a:ext cx="2926080" cy="594360"/>
          </a:xfrm>
          <a:prstGeom prst="rect">
            <a:avLst/>
          </a:prstGeom>
          <a:solidFill>
            <a:srgbClr val="1B2A4A">
              <a:alpha val="9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282696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financière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291840" y="3282696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8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840480" y="3282696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distinct par acteur + réconciliation automatique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995928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995928"/>
            <a:ext cx="2926080" cy="594360"/>
          </a:xfrm>
          <a:prstGeom prst="rect">
            <a:avLst/>
          </a:prstGeom>
          <a:solidFill>
            <a:srgbClr val="1B2A4A">
              <a:alpha val="9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399592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delivery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291840" y="399592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8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840480" y="399592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QR code + capture photo + signature (UnifiedProof)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B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&amp; améliorations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vient ensuite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D3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CargoLink — PFE 2025-2026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589520" y="914400"/>
            <a:ext cx="1280160" cy="1280160"/>
          </a:xfrm>
          <a:prstGeom prst="ellipse">
            <a:avLst/>
          </a:prstGeom>
          <a:solidFill>
            <a:srgbClr val="2F80ED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051560"/>
            <a:ext cx="1005840" cy="10058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65760" y="1143000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1399032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1399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43000" y="121615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native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43000" y="16184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pour les livreurs — offline-first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800600" y="1143000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983480" y="1399032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4"/>
          <p:cNvSpPr/>
          <p:nvPr/>
        </p:nvSpPr>
        <p:spPr>
          <a:xfrm>
            <a:off x="4983480" y="1399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577840" y="121615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577840" y="16184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de délais + affectation automatique des livreurs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365760" y="2313432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48640" y="2569464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" y="2569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143000" y="238658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intégré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43000" y="27889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PayPal, Stripe, paiement à la livraison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800600" y="2313432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983480" y="2569464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7" name="Text 24"/>
          <p:cNvSpPr/>
          <p:nvPr/>
        </p:nvSpPr>
        <p:spPr>
          <a:xfrm>
            <a:off x="4983480" y="2569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577840" y="238658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Multi-langue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577840" y="27889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 complet : arabe, français, anglais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365760" y="3483864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48640" y="3739896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2" name="Text 29"/>
          <p:cNvSpPr/>
          <p:nvPr/>
        </p:nvSpPr>
        <p:spPr>
          <a:xfrm>
            <a:off x="548640" y="37398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1143000" y="355701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avancés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1143000" y="395935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exportables PDF/Excel pour les agences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4800600" y="3483864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4983480" y="3739896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7" name="Text 34"/>
          <p:cNvSpPr/>
          <p:nvPr/>
        </p:nvSpPr>
        <p:spPr>
          <a:xfrm>
            <a:off x="4983480" y="37398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5577840" y="355701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cloud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5577840" y="395935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Containerisation Docker + orchestration Kubernetes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B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ce projet nous a appris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acquises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D3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CargoLink — PFE 2025-2026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589520" y="914400"/>
            <a:ext cx="1280160" cy="12801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051560"/>
            <a:ext cx="1005840" cy="10058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65760" y="1207008"/>
            <a:ext cx="70408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3502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24128" y="1207008"/>
            <a:ext cx="6263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une architecture logicielle scalable dès la phase de conception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65760" y="1892808"/>
            <a:ext cx="70408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20824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24128" y="1892808"/>
            <a:ext cx="6263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Travailler en équipe avec Git branching, pull requests et code review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365760" y="2578608"/>
            <a:ext cx="70408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706624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24128" y="2578608"/>
            <a:ext cx="6263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Penser l'expérience utilisateur pour des profils métiers très différents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365760" y="3264408"/>
            <a:ext cx="70408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392424"/>
            <a:ext cx="347472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24128" y="3264408"/>
            <a:ext cx="6263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la complexité croissante grâce à CI/CD, migrations et tests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365760" y="3950208"/>
            <a:ext cx="70408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078224"/>
            <a:ext cx="347472" cy="34747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024128" y="3950208"/>
            <a:ext cx="6263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des fonctionnalités temps réel dans une app full-stack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D35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CargoLink — Un produit livrable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D3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CargoLink — PFE 2025-2026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371600"/>
            <a:ext cx="1645920" cy="1645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18872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CargoLink répond concrètement aux trois questions posées :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unifiée, un suivi transparent et des flux financiers automatisés.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avons livré un système fonctionnel, sécurisé et extensible.</a:t>
            </a:r>
            <a:endParaRPr lang="en-US" sz="16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9923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2944368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Centralisation multi-agences</a:t>
            </a:r>
            <a:endParaRPr lang="en-US" sz="14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6616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3511296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client temps réel</a:t>
            </a:r>
            <a:endParaRPr lang="en-US" sz="14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133088"/>
            <a:ext cx="347472" cy="3474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0120" y="4078224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financiers automatisés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D3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CargoLink — PFE 2025-2026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0" y="-1371600"/>
            <a:ext cx="5943600" cy="5943600"/>
          </a:xfrm>
          <a:prstGeom prst="ellipse">
            <a:avLst/>
          </a:prstGeom>
          <a:solidFill>
            <a:srgbClr val="2C3E63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D6E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pour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attention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457200" y="2487168"/>
            <a:ext cx="3200400" cy="45720"/>
          </a:xfrm>
          <a:prstGeom prst="rect">
            <a:avLst/>
          </a:prstGeom>
          <a:solidFill>
            <a:srgbClr val="2F80E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670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sommes disponibles pour toute question.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6A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anticipées 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7307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Pourquoi Spring Boot vs Node.js 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0050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Comment gérez-vous la sécurité 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2793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Quelle différence Admin vs Agency Admin 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5537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Le système est-il scalable 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CargoLink - PFE 2025-2026</dc:title>
  <dc:subject>PptxGenJS Presentation</dc:subject>
  <dc:creator>PptxGenJS</dc:creator>
  <cp:lastModifiedBy>PptxGenJS</cp:lastModifiedBy>
  <cp:revision>1</cp:revision>
  <dcterms:created xsi:type="dcterms:W3CDTF">2026-06-25T18:00:53Z</dcterms:created>
  <dcterms:modified xsi:type="dcterms:W3CDTF">2026-06-25T18:00:53Z</dcterms:modified>
</cp:coreProperties>
</file>